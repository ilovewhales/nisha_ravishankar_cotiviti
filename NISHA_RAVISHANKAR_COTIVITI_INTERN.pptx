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ument Bold" charset="1" panose="000003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0941" r="-10680" b="-2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28067" y="3150512"/>
            <a:ext cx="20232989" cy="61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1"/>
              </a:lnSpc>
            </a:pPr>
            <a:r>
              <a:rPr lang="en-US" sz="9521" spc="-190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CLINICAL NATURAL LANGUAGE</a:t>
            </a:r>
          </a:p>
          <a:p>
            <a:pPr algn="l">
              <a:lnSpc>
                <a:spcPts val="9521"/>
              </a:lnSpc>
            </a:pPr>
            <a:r>
              <a:rPr lang="en-US" sz="9521" spc="-190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TECHNOLOGY FOR HEALTH CA</a:t>
            </a:r>
            <a:r>
              <a:rPr lang="en-US" sz="9521" spc="-190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RE</a:t>
            </a:r>
          </a:p>
          <a:p>
            <a:pPr algn="l" marL="0" indent="0" lvl="1">
              <a:lnSpc>
                <a:spcPts val="952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522172" y="2250562"/>
            <a:ext cx="60865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PAST, PRESENT, AND FUTURE APPROACHES OF</a:t>
            </a:r>
          </a:p>
          <a:p>
            <a:pPr algn="l" marL="0" indent="0" lvl="0">
              <a:lnSpc>
                <a:spcPts val="216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791226" y="1983862"/>
            <a:ext cx="39709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25887" y="8372315"/>
            <a:ext cx="1124978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NISHA RAVISHANKAR · COTIVITI INTERNSHIP ASSESSMENT · JUNE 2026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>
            <a:off x="2525921" y="2581676"/>
            <a:ext cx="1323619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525921" y="1652748"/>
            <a:ext cx="1323619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525853" y="8043702"/>
            <a:ext cx="1323626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0">
            <a:off x="14810266" y="7380728"/>
            <a:ext cx="479409" cy="479409"/>
          </a:xfrm>
          <a:custGeom>
            <a:avLst/>
            <a:gdLst/>
            <a:ahLst/>
            <a:cxnLst/>
            <a:rect r="r" b="b" t="t" l="l"/>
            <a:pathLst>
              <a:path h="479409" w="479409">
                <a:moveTo>
                  <a:pt x="0" y="479409"/>
                </a:moveTo>
                <a:lnTo>
                  <a:pt x="479409" y="479409"/>
                </a:lnTo>
                <a:lnTo>
                  <a:pt x="479409" y="0"/>
                </a:lnTo>
                <a:lnTo>
                  <a:pt x="0" y="0"/>
                </a:lnTo>
                <a:lnTo>
                  <a:pt x="0" y="4794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4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761034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253538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51987"/>
            <a:ext cx="16230600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4400"/>
              </a:lnSpc>
              <a:spcBef>
                <a:spcPct val="0"/>
              </a:spcBef>
            </a:pPr>
            <a:r>
              <a:rPr lang="en-US" sz="14400" spc="-288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254392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15027" y="5254392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92642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15027" y="6492642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29701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28167" y="5388337"/>
            <a:ext cx="3529724" cy="482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b="true" sz="1607" spc="-8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CLINICAL NLP?</a:t>
            </a:r>
          </a:p>
          <a:p>
            <a:pPr algn="l" marL="0" indent="0" lvl="1">
              <a:lnSpc>
                <a:spcPts val="192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314494" y="5399807"/>
            <a:ext cx="1981635" cy="52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b="true" sz="1752" spc="-8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THREATS &amp; RISKS</a:t>
            </a:r>
          </a:p>
          <a:p>
            <a:pPr algn="l">
              <a:lnSpc>
                <a:spcPts val="210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28167" y="6626587"/>
            <a:ext cx="3013389" cy="52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2"/>
              </a:lnSpc>
              <a:spcBef>
                <a:spcPct val="0"/>
              </a:spcBef>
            </a:pPr>
            <a:r>
              <a:rPr lang="en-US" b="true" sz="1760" spc="-88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EVOLU</a:t>
            </a:r>
            <a:r>
              <a:rPr lang="en-US" b="true" sz="1760" spc="-88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 OF THE FIELD</a:t>
            </a:r>
          </a:p>
          <a:p>
            <a:pPr algn="l" marL="0" indent="0" lvl="1">
              <a:lnSpc>
                <a:spcPts val="211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314494" y="6638057"/>
            <a:ext cx="333207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5"/>
              </a:lnSpc>
            </a:pPr>
            <a:r>
              <a:rPr lang="en-US" b="true" sz="1554" spc="-7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STRATEGIC RECOMMENDATION</a:t>
            </a:r>
          </a:p>
          <a:p>
            <a:pPr algn="l">
              <a:lnSpc>
                <a:spcPts val="186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28167" y="7863646"/>
            <a:ext cx="2390507" cy="55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02"/>
              </a:lnSpc>
              <a:spcBef>
                <a:spcPct val="0"/>
              </a:spcBef>
            </a:pPr>
            <a:r>
              <a:rPr lang="en-US" b="true" sz="1835" spc="-9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OPPO</a:t>
            </a:r>
            <a:r>
              <a:rPr lang="en-US" b="true" sz="1835" spc="-91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RTUNITIES</a:t>
            </a:r>
          </a:p>
          <a:p>
            <a:pPr algn="l">
              <a:lnSpc>
                <a:spcPts val="2202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true" rot="0">
            <a:off x="7709933" y="5399807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true" rot="0">
            <a:off x="16210054" y="5388337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0">
            <a:off x="7709933" y="6638057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210054" y="6626587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0">
            <a:off x="7709933" y="7875116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128167" y="5733182"/>
            <a:ext cx="3131267" cy="37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2"/>
              </a:lnSpc>
            </a:pPr>
            <a:r>
              <a:rPr lang="en-US" sz="127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DEFINITION AND CORE TECHNOLOGIES</a:t>
            </a:r>
          </a:p>
          <a:p>
            <a:pPr algn="ctr">
              <a:lnSpc>
                <a:spcPts val="1532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128167" y="6971432"/>
            <a:ext cx="3131267" cy="395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3"/>
              </a:lnSpc>
              <a:spcBef>
                <a:spcPct val="0"/>
              </a:spcBef>
            </a:pPr>
            <a:r>
              <a:rPr lang="en-US" sz="13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33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ULES → ML → LLMS → MULTIMODAL</a:t>
            </a:r>
          </a:p>
          <a:p>
            <a:pPr algn="ctr">
              <a:lnSpc>
                <a:spcPts val="1603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128167" y="8224620"/>
            <a:ext cx="3961553" cy="40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"/>
              </a:lnSpc>
              <a:spcBef>
                <a:spcPct val="0"/>
              </a:spcBef>
            </a:pPr>
            <a:r>
              <a:rPr lang="en-US" sz="13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PRI</a:t>
            </a:r>
            <a:r>
              <a:rPr lang="en-US" sz="135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 AUTH, HCC CODING, CLAIMS INTEGRITY</a:t>
            </a:r>
          </a:p>
          <a:p>
            <a:pPr algn="ctr">
              <a:lnSpc>
                <a:spcPts val="1624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314494" y="5854467"/>
            <a:ext cx="3332079" cy="38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0"/>
              </a:lnSpc>
              <a:spcBef>
                <a:spcPct val="0"/>
              </a:spcBef>
            </a:pPr>
            <a:r>
              <a:rPr lang="en-US" sz="132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32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ALLUCINATION, HIPAA, EXPLAINABILITY</a:t>
            </a:r>
          </a:p>
          <a:p>
            <a:pPr algn="ctr">
              <a:lnSpc>
                <a:spcPts val="159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318465" y="6986370"/>
            <a:ext cx="43261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2"/>
              </a:lnSpc>
              <a:spcBef>
                <a:spcPct val="0"/>
              </a:spcBef>
            </a:pPr>
            <a:r>
              <a:rPr lang="en-US" sz="127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277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OTIVITI'S CLINICAL DOCUMENT INTELLIGENCE LAYER</a:t>
            </a:r>
          </a:p>
          <a:p>
            <a:pPr algn="ctr">
              <a:lnSpc>
                <a:spcPts val="1532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15027" y="7791232"/>
            <a:ext cx="109946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88780" y="7915201"/>
            <a:ext cx="13507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b="true" sz="159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POC</a:t>
            </a:r>
            <a:r>
              <a:rPr lang="en-US" b="true" sz="1598">
                <a:solidFill>
                  <a:srgbClr val="D9D9D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DEMO</a:t>
            </a:r>
          </a:p>
          <a:p>
            <a:pPr algn="ctr">
              <a:lnSpc>
                <a:spcPts val="1917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303468" y="8267482"/>
            <a:ext cx="2925230" cy="44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4"/>
              </a:lnSpc>
              <a:spcBef>
                <a:spcPct val="0"/>
              </a:spcBef>
            </a:pPr>
            <a:r>
              <a:rPr lang="en-US" sz="1495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LIVE CLINICAL N</a:t>
            </a:r>
            <a:r>
              <a:rPr lang="en-US" sz="1495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OTE ANALYZER</a:t>
            </a:r>
          </a:p>
          <a:p>
            <a:pPr algn="ctr">
              <a:lnSpc>
                <a:spcPts val="1794"/>
              </a:lnSpc>
              <a:spcBef>
                <a:spcPct val="0"/>
              </a:spcBef>
            </a:pPr>
          </a:p>
        </p:txBody>
      </p:sp>
      <p:sp>
        <p:nvSpPr>
          <p:cNvPr name="Freeform 28" id="28"/>
          <p:cNvSpPr/>
          <p:nvPr/>
        </p:nvSpPr>
        <p:spPr>
          <a:xfrm flipH="false" flipV="true" rot="0">
            <a:off x="16210054" y="82026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649899"/>
            <a:ext cx="9002532" cy="5637101"/>
            <a:chOff x="0" y="0"/>
            <a:chExt cx="12003376" cy="751613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4228" r="0" b="4228"/>
            <a:stretch>
              <a:fillRect/>
            </a:stretch>
          </p:blipFill>
          <p:spPr>
            <a:xfrm flipH="false" flipV="false">
              <a:off x="0" y="0"/>
              <a:ext cx="12003376" cy="7516134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42823" y="4056513"/>
            <a:ext cx="5907772" cy="6041174"/>
          </a:xfrm>
          <a:custGeom>
            <a:avLst/>
            <a:gdLst/>
            <a:ahLst/>
            <a:cxnLst/>
            <a:rect r="r" b="b" t="t" l="l"/>
            <a:pathLst>
              <a:path h="6041174" w="5907772">
                <a:moveTo>
                  <a:pt x="0" y="0"/>
                </a:moveTo>
                <a:lnTo>
                  <a:pt x="5907772" y="0"/>
                </a:lnTo>
                <a:lnTo>
                  <a:pt x="5907772" y="6041174"/>
                </a:lnTo>
                <a:lnTo>
                  <a:pt x="0" y="604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9890" y="381040"/>
            <a:ext cx="10781667" cy="280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144" strike="noStrike" u="none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WHAT IS CLINICAL NLP?</a:t>
            </a:r>
          </a:p>
          <a:p>
            <a:pPr algn="l" marL="0" indent="0" lvl="1">
              <a:lnSpc>
                <a:spcPts val="7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434425" y="63506"/>
            <a:ext cx="7824875" cy="216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1"/>
              </a:lnSpc>
              <a:spcBef>
                <a:spcPct val="0"/>
              </a:spcBef>
            </a:pPr>
            <a:r>
              <a:rPr lang="en-US" sz="2301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Clinical N</a:t>
            </a:r>
            <a:r>
              <a:rPr lang="en-US" sz="2301" strike="noStrike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LP applies computational techniques to extract and structure information from unstructured medical text, physician notes, discharge summaries, radiology reports, and insurance claims.</a:t>
            </a:r>
          </a:p>
          <a:p>
            <a:pPr algn="l" marL="0" indent="0" lvl="0">
              <a:lnSpc>
                <a:spcPts val="345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4134251" y="3751713"/>
            <a:ext cx="1380016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2"/>
              </a:lnSpc>
              <a:spcBef>
                <a:spcPct val="0"/>
              </a:spcBef>
            </a:pPr>
            <a:r>
              <a:rPr lang="en-US" b="true" sz="20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</a:t>
            </a:r>
            <a:r>
              <a:rPr lang="en-US" b="true" sz="20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SPANS THREE CORE FUNCTIONS:</a:t>
            </a:r>
          </a:p>
          <a:p>
            <a:pPr algn="ctr">
              <a:lnSpc>
                <a:spcPts val="24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4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862" y="1091532"/>
            <a:ext cx="13236260" cy="280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EVOLUTION OF </a:t>
            </a:r>
            <a:r>
              <a:rPr lang="en-US" sz="7200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CLINICAL NLP</a:t>
            </a:r>
          </a:p>
          <a:p>
            <a:pPr algn="l" marL="0" indent="0" lvl="1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-1033732" y="3103071"/>
            <a:ext cx="1323626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1213807" y="898676"/>
            <a:ext cx="1341633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58772" y="3600813"/>
            <a:ext cx="13121909" cy="6081984"/>
          </a:xfrm>
          <a:custGeom>
            <a:avLst/>
            <a:gdLst/>
            <a:ahLst/>
            <a:cxnLst/>
            <a:rect r="r" b="b" t="t" l="l"/>
            <a:pathLst>
              <a:path h="6081984" w="13121909">
                <a:moveTo>
                  <a:pt x="0" y="0"/>
                </a:moveTo>
                <a:lnTo>
                  <a:pt x="13121909" y="0"/>
                </a:lnTo>
                <a:lnTo>
                  <a:pt x="13121909" y="6081984"/>
                </a:lnTo>
                <a:lnTo>
                  <a:pt x="0" y="6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07" r="0" b="-130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713" y="1716897"/>
            <a:ext cx="9279050" cy="154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1"/>
              </a:lnSpc>
              <a:spcBef>
                <a:spcPct val="0"/>
              </a:spcBef>
            </a:pPr>
            <a:r>
              <a:rPr lang="en-US" sz="3971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OPP</a:t>
            </a:r>
            <a:r>
              <a:rPr lang="en-US" sz="3971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ORTUNITIES IN HEALTHCARE</a:t>
            </a:r>
          </a:p>
          <a:p>
            <a:pPr algn="l" marL="0" indent="0" lvl="1">
              <a:lnSpc>
                <a:spcPts val="3971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359941" y="1321434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359941" y="2894472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263063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6804138" y="244194"/>
            <a:ext cx="455162" cy="455162"/>
          </a:xfrm>
          <a:custGeom>
            <a:avLst/>
            <a:gdLst/>
            <a:ahLst/>
            <a:cxnLst/>
            <a:rect r="r" b="b" t="t" l="l"/>
            <a:pathLst>
              <a:path h="455162" w="455162">
                <a:moveTo>
                  <a:pt x="0" y="455162"/>
                </a:moveTo>
                <a:lnTo>
                  <a:pt x="455162" y="455162"/>
                </a:lnTo>
                <a:lnTo>
                  <a:pt x="455162" y="0"/>
                </a:lnTo>
                <a:lnTo>
                  <a:pt x="0" y="0"/>
                </a:lnTo>
                <a:lnTo>
                  <a:pt x="0" y="45516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8843" y="3524537"/>
            <a:ext cx="683696" cy="681036"/>
          </a:xfrm>
          <a:custGeom>
            <a:avLst/>
            <a:gdLst/>
            <a:ahLst/>
            <a:cxnLst/>
            <a:rect r="r" b="b" t="t" l="l"/>
            <a:pathLst>
              <a:path h="681036" w="683696">
                <a:moveTo>
                  <a:pt x="0" y="0"/>
                </a:moveTo>
                <a:lnTo>
                  <a:pt x="683696" y="0"/>
                </a:lnTo>
                <a:lnTo>
                  <a:pt x="683696" y="681036"/>
                </a:lnTo>
                <a:lnTo>
                  <a:pt x="0" y="681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02028" y="3524537"/>
            <a:ext cx="681036" cy="681036"/>
          </a:xfrm>
          <a:custGeom>
            <a:avLst/>
            <a:gdLst/>
            <a:ahLst/>
            <a:cxnLst/>
            <a:rect r="r" b="b" t="t" l="l"/>
            <a:pathLst>
              <a:path h="681036" w="681036">
                <a:moveTo>
                  <a:pt x="0" y="0"/>
                </a:moveTo>
                <a:lnTo>
                  <a:pt x="681036" y="0"/>
                </a:lnTo>
                <a:lnTo>
                  <a:pt x="681036" y="681036"/>
                </a:lnTo>
                <a:lnTo>
                  <a:pt x="0" y="6810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243294"/>
            <a:ext cx="681036" cy="681036"/>
          </a:xfrm>
          <a:custGeom>
            <a:avLst/>
            <a:gdLst/>
            <a:ahLst/>
            <a:cxnLst/>
            <a:rect r="r" b="b" t="t" l="l"/>
            <a:pathLst>
              <a:path h="681036" w="681036">
                <a:moveTo>
                  <a:pt x="0" y="0"/>
                </a:moveTo>
                <a:lnTo>
                  <a:pt x="681036" y="0"/>
                </a:lnTo>
                <a:lnTo>
                  <a:pt x="681036" y="681036"/>
                </a:lnTo>
                <a:lnTo>
                  <a:pt x="0" y="6810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49113" y="6480188"/>
            <a:ext cx="676019" cy="692114"/>
          </a:xfrm>
          <a:custGeom>
            <a:avLst/>
            <a:gdLst/>
            <a:ahLst/>
            <a:cxnLst/>
            <a:rect r="r" b="b" t="t" l="l"/>
            <a:pathLst>
              <a:path h="692114" w="676019">
                <a:moveTo>
                  <a:pt x="0" y="0"/>
                </a:moveTo>
                <a:lnTo>
                  <a:pt x="676019" y="0"/>
                </a:lnTo>
                <a:lnTo>
                  <a:pt x="676019" y="692115"/>
                </a:lnTo>
                <a:lnTo>
                  <a:pt x="0" y="6921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8843" y="4415123"/>
            <a:ext cx="4792635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LLMs extract clinical criteria from notes and match against payer policies in real time, reducing admin burden and appeal cycles.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63384" y="3705835"/>
            <a:ext cx="3868093" cy="47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802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PRI</a:t>
            </a:r>
            <a:r>
              <a:rPr lang="en-US" sz="1802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OR AUTH AUTOMATION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963384" y="6704933"/>
            <a:ext cx="2764229" cy="46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5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CL</a:t>
            </a:r>
            <a:r>
              <a:rPr lang="en-US" sz="1775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AIMS INTEGRITY</a:t>
            </a:r>
          </a:p>
          <a:p>
            <a:pPr algn="ctr">
              <a:lnSpc>
                <a:spcPts val="177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721189" y="3617114"/>
            <a:ext cx="4045689" cy="52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  <a:spcBef>
                <a:spcPct val="0"/>
              </a:spcBef>
            </a:pPr>
            <a:r>
              <a:rPr lang="en-US" sz="197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HCC</a:t>
            </a:r>
            <a:r>
              <a:rPr lang="en-US" sz="197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 RISK ADJUSTMENT</a:t>
            </a:r>
          </a:p>
          <a:p>
            <a:pPr algn="ctr">
              <a:lnSpc>
                <a:spcPts val="197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802028" y="4393276"/>
            <a:ext cx="4792635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4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LP-driven HCC extraction from clinical documentation improves risk score accuracy in capitated payment models.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38843" y="7238165"/>
            <a:ext cx="4792635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Automate</a:t>
            </a:r>
            <a:r>
              <a:rPr lang="en-US" sz="14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 ICD-10/CPT cross-referencing against clinical notes flags unsupported claims before adjudication.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721189" y="6704933"/>
            <a:ext cx="4803874" cy="47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802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CLINIC</a:t>
            </a:r>
            <a:r>
              <a:rPr lang="en-US" sz="1802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AL DOCUMENTATION (CDI)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802028" y="7369839"/>
            <a:ext cx="4792635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Real-time</a:t>
            </a:r>
            <a:r>
              <a:rPr lang="en-US" sz="140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NLP feedback during documentation helps physicians capture specificity needed for accurate coding and reimbursement.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873979" y="6736068"/>
            <a:ext cx="426287" cy="20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sz="156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&lt;/&gt;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057400" y="4762"/>
            <a:ext cx="7086600" cy="0"/>
          </a:xfrm>
          <a:prstGeom prst="line">
            <a:avLst/>
          </a:prstGeom>
          <a:ln cap="flat" w="9525">
            <a:solidFill>
              <a:srgbClr val="140E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2057400" y="2587004"/>
            <a:ext cx="7086600" cy="0"/>
          </a:xfrm>
          <a:prstGeom prst="line">
            <a:avLst/>
          </a:prstGeom>
          <a:ln cap="flat" w="9525">
            <a:solidFill>
              <a:srgbClr val="140E0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3277" y="3664007"/>
            <a:ext cx="854980" cy="854980"/>
          </a:xfrm>
          <a:custGeom>
            <a:avLst/>
            <a:gdLst/>
            <a:ahLst/>
            <a:cxnLst/>
            <a:rect r="r" b="b" t="t" l="l"/>
            <a:pathLst>
              <a:path h="854980" w="854980">
                <a:moveTo>
                  <a:pt x="0" y="0"/>
                </a:moveTo>
                <a:lnTo>
                  <a:pt x="854981" y="0"/>
                </a:lnTo>
                <a:lnTo>
                  <a:pt x="854981" y="854980"/>
                </a:lnTo>
                <a:lnTo>
                  <a:pt x="0" y="854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8600" y="5228517"/>
            <a:ext cx="789657" cy="694898"/>
          </a:xfrm>
          <a:custGeom>
            <a:avLst/>
            <a:gdLst/>
            <a:ahLst/>
            <a:cxnLst/>
            <a:rect r="r" b="b" t="t" l="l"/>
            <a:pathLst>
              <a:path h="694898" w="789657">
                <a:moveTo>
                  <a:pt x="0" y="0"/>
                </a:moveTo>
                <a:lnTo>
                  <a:pt x="789658" y="0"/>
                </a:lnTo>
                <a:lnTo>
                  <a:pt x="789658" y="694898"/>
                </a:lnTo>
                <a:lnTo>
                  <a:pt x="0" y="694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7044" y="6703726"/>
            <a:ext cx="689514" cy="848793"/>
          </a:xfrm>
          <a:custGeom>
            <a:avLst/>
            <a:gdLst/>
            <a:ahLst/>
            <a:cxnLst/>
            <a:rect r="r" b="b" t="t" l="l"/>
            <a:pathLst>
              <a:path h="848793" w="689514">
                <a:moveTo>
                  <a:pt x="0" y="0"/>
                </a:moveTo>
                <a:lnTo>
                  <a:pt x="689514" y="0"/>
                </a:lnTo>
                <a:lnTo>
                  <a:pt x="689514" y="848793"/>
                </a:lnTo>
                <a:lnTo>
                  <a:pt x="0" y="848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4983" r="0" b="-615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89755" y="3867872"/>
            <a:ext cx="6673743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LLM</a:t>
            </a:r>
            <a:r>
              <a:rPr lang="en-US" sz="1400" strike="noStrike" u="none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s can generate clinically plausible but inaccurate outputs. Erroneous diagnosis codes or fabricated medication history carry serious consequences for patient safety and financial integrity.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57400" y="517760"/>
            <a:ext cx="6673743" cy="280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TH</a:t>
            </a:r>
            <a:r>
              <a:rPr lang="en-US" sz="7200" strike="noStrike" u="none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REATS &amp; RISKS</a:t>
            </a:r>
          </a:p>
          <a:p>
            <a:pPr algn="l" marL="0" indent="0" lvl="1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809400" y="3441091"/>
            <a:ext cx="3173313" cy="47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H</a:t>
            </a: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ALLUCINATION RISK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789755" y="5101559"/>
            <a:ext cx="3866852" cy="47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HIPAA &amp; PHI COMP</a:t>
            </a: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LIANCE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09400" y="5528341"/>
            <a:ext cx="6673743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Proces</a:t>
            </a:r>
            <a:r>
              <a:rPr lang="en-US" sz="1400" strike="noStrike" u="none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sing protected health information through third-party LLM APIs requires Business Associate Agreements and strict data handling controls.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89755" y="6732301"/>
            <a:ext cx="3192959" cy="47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  <a:spcBef>
                <a:spcPct val="0"/>
              </a:spcBef>
            </a:pP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EXP</a:t>
            </a:r>
            <a:r>
              <a:rPr lang="en-US" sz="1802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LAINABILITY GAP</a:t>
            </a:r>
          </a:p>
          <a:p>
            <a:pPr algn="ctr">
              <a:lnSpc>
                <a:spcPts val="180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809400" y="7159082"/>
            <a:ext cx="6673743" cy="79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400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Deep learn</a:t>
            </a:r>
            <a:r>
              <a:rPr lang="en-US" sz="1400" strike="noStrike" u="none">
                <a:solidFill>
                  <a:srgbClr val="140E0C"/>
                </a:solidFill>
                <a:latin typeface="Open Sauce"/>
                <a:ea typeface="Open Sauce"/>
                <a:cs typeface="Open Sauce"/>
                <a:sym typeface="Open Sauce"/>
              </a:rPr>
              <a:t>ing models remain opaque, complicating audit trails required for regulatory compliance and provider dispute resolution.</a:t>
            </a:r>
          </a:p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4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6255" y="833049"/>
            <a:ext cx="15084988" cy="1033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393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STRATEGIC RECOMMENDATION FOR COTIVITI</a:t>
            </a:r>
          </a:p>
          <a:p>
            <a:pPr algn="l" marL="0" indent="0" lvl="1">
              <a:lnSpc>
                <a:spcPts val="3939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0" y="1593498"/>
            <a:ext cx="1555172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6121" y="523486"/>
            <a:ext cx="1555172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6971328" y="766374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9513" y="4047300"/>
            <a:ext cx="1263332" cy="1263332"/>
          </a:xfrm>
          <a:custGeom>
            <a:avLst/>
            <a:gdLst/>
            <a:ahLst/>
            <a:cxnLst/>
            <a:rect r="r" b="b" t="t" l="l"/>
            <a:pathLst>
              <a:path h="1263332" w="1263332">
                <a:moveTo>
                  <a:pt x="0" y="0"/>
                </a:moveTo>
                <a:lnTo>
                  <a:pt x="1263331" y="0"/>
                </a:lnTo>
                <a:lnTo>
                  <a:pt x="1263331" y="1263332"/>
                </a:lnTo>
                <a:lnTo>
                  <a:pt x="0" y="1263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0590" y="5301107"/>
            <a:ext cx="267266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HCC</a:t>
            </a:r>
            <a:r>
              <a:rPr lang="en-US" b="true" sz="2799" spc="-13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Capture</a:t>
            </a:r>
          </a:p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50590" y="6172200"/>
            <a:ext cx="261281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15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tract hierarchical condition categories from notes to improve RAF score accuracy</a:t>
            </a:r>
          </a:p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202569" y="5372100"/>
            <a:ext cx="321281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Claims-to-Clinic</a:t>
            </a:r>
            <a:r>
              <a:rPr lang="en-US" b="true" sz="2799" spc="-13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</a:t>
            </a:r>
          </a:p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202569" y="6101207"/>
            <a:ext cx="2612819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Cross-</a:t>
            </a:r>
            <a:r>
              <a:rPr lang="en-US" sz="15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reference ICD-10/CPT codes against clinical notes before adjudication</a:t>
            </a:r>
          </a:p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54547" y="5372100"/>
            <a:ext cx="321281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Prior Auth Support</a:t>
            </a:r>
          </a:p>
          <a:p>
            <a:pPr algn="l" marL="0" indent="0" lvl="1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558462" y="6172200"/>
            <a:ext cx="2612819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Match </a:t>
            </a:r>
            <a:r>
              <a:rPr lang="en-US" sz="15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extracted clinical criteria against payer policy rules in real time</a:t>
            </a:r>
          </a:p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778994" y="4047300"/>
            <a:ext cx="1263332" cy="1263332"/>
          </a:xfrm>
          <a:custGeom>
            <a:avLst/>
            <a:gdLst/>
            <a:ahLst/>
            <a:cxnLst/>
            <a:rect r="r" b="b" t="t" l="l"/>
            <a:pathLst>
              <a:path h="1263332" w="1263332">
                <a:moveTo>
                  <a:pt x="0" y="0"/>
                </a:moveTo>
                <a:lnTo>
                  <a:pt x="1263332" y="0"/>
                </a:lnTo>
                <a:lnTo>
                  <a:pt x="1263332" y="1263332"/>
                </a:lnTo>
                <a:lnTo>
                  <a:pt x="0" y="1263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29288" y="4068449"/>
            <a:ext cx="1263332" cy="1263332"/>
          </a:xfrm>
          <a:custGeom>
            <a:avLst/>
            <a:gdLst/>
            <a:ahLst/>
            <a:cxnLst/>
            <a:rect r="r" b="b" t="t" l="l"/>
            <a:pathLst>
              <a:path h="1263332" w="1263332">
                <a:moveTo>
                  <a:pt x="0" y="0"/>
                </a:moveTo>
                <a:lnTo>
                  <a:pt x="1263332" y="0"/>
                </a:lnTo>
                <a:lnTo>
                  <a:pt x="1263332" y="1263332"/>
                </a:lnTo>
                <a:lnTo>
                  <a:pt x="0" y="1263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9513" y="4459891"/>
            <a:ext cx="12633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78994" y="4481040"/>
            <a:ext cx="12633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29288" y="4459891"/>
            <a:ext cx="126333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6740" y="8217153"/>
            <a:ext cx="15084988" cy="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39"/>
              </a:lnSpc>
              <a:spcBef>
                <a:spcPct val="0"/>
              </a:spcBef>
            </a:pPr>
            <a:r>
              <a:rPr lang="en-US" sz="393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RISK MITIGATIONS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6740" y="9079624"/>
            <a:ext cx="14650489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RAG a</a:t>
            </a:r>
            <a:r>
              <a:rPr lang="en-US" sz="15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rchitecture anchors outputs to source spans · HIPAA-compliant private cloud — no public API endpoints · Human-in-the-loop review for low-confidence extractions</a:t>
            </a:r>
          </a:p>
          <a:p>
            <a:pPr algn="l" marL="0" indent="0" lvl="0">
              <a:lnSpc>
                <a:spcPts val="23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16255" y="1798483"/>
            <a:ext cx="585623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 D</a:t>
            </a: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ocument Intelligence Layer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16255" y="2530018"/>
            <a:ext cx="1676778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m</a:t>
            </a: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odular LLM pipeline: ingest unstructured clinical docs → OCR + entity extraction → structured FHIR output with confidence scores and audit traces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17014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54801" y="5038096"/>
            <a:ext cx="5109075" cy="2862681"/>
            <a:chOff x="0" y="0"/>
            <a:chExt cx="6812100" cy="3816908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6454" t="0" r="6454" b="0"/>
            <a:stretch>
              <a:fillRect/>
            </a:stretch>
          </p:blipFill>
          <p:spPr>
            <a:xfrm flipH="false" flipV="false">
              <a:off x="0" y="0"/>
              <a:ext cx="6812100" cy="3816908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6335890" y="5038096"/>
            <a:ext cx="5616220" cy="2862681"/>
            <a:chOff x="0" y="0"/>
            <a:chExt cx="7488294" cy="381690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3149" t="0" r="3149" b="0"/>
            <a:stretch>
              <a:fillRect/>
            </a:stretch>
          </p:blipFill>
          <p:spPr>
            <a:xfrm flipH="false" flipV="false">
              <a:off x="0" y="0"/>
              <a:ext cx="7488294" cy="3816908"/>
            </a:xfrm>
            <a:prstGeom prst="rect">
              <a:avLst/>
            </a:prstGeom>
          </p:spPr>
        </p:pic>
      </p:grpSp>
      <p:grpSp>
        <p:nvGrpSpPr>
          <p:cNvPr name="Group 7" id="7"/>
          <p:cNvGrpSpPr/>
          <p:nvPr/>
        </p:nvGrpSpPr>
        <p:grpSpPr>
          <a:xfrm rot="0">
            <a:off x="12491877" y="5038837"/>
            <a:ext cx="4993881" cy="2862681"/>
            <a:chOff x="0" y="0"/>
            <a:chExt cx="6658508" cy="3816908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4"/>
            <a:srcRect l="7767" t="0" r="7767" b="0"/>
            <a:stretch>
              <a:fillRect/>
            </a:stretch>
          </p:blipFill>
          <p:spPr>
            <a:xfrm flipH="false" flipV="false">
              <a:off x="0" y="0"/>
              <a:ext cx="6658508" cy="3816908"/>
            </a:xfrm>
            <a:prstGeom prst="rect">
              <a:avLst/>
            </a:prstGeom>
          </p:spPr>
        </p:pic>
      </p:grpSp>
      <p:sp>
        <p:nvSpPr>
          <p:cNvPr name="AutoShape 9" id="9"/>
          <p:cNvSpPr/>
          <p:nvPr/>
        </p:nvSpPr>
        <p:spPr>
          <a:xfrm>
            <a:off x="1028700" y="4500675"/>
            <a:ext cx="162306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140300"/>
            <a:ext cx="14697207" cy="761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098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Python · Anthropic Claude API (claude-sonnet-4-6) · JSON structured output · Terminal CLI</a:t>
            </a:r>
          </a:p>
          <a:p>
            <a:pPr algn="l" marL="0" indent="0" lvl="0">
              <a:lnSpc>
                <a:spcPts val="314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423910"/>
            <a:ext cx="4471525" cy="78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547">
                <a:solidFill>
                  <a:srgbClr val="E6450D"/>
                </a:solidFill>
                <a:latin typeface="Monument Bold"/>
                <a:ea typeface="Monument Bold"/>
                <a:cs typeface="Monument Bold"/>
                <a:sym typeface="Monument Bold"/>
              </a:rPr>
              <a:t>Technologies used:</a:t>
            </a:r>
          </a:p>
          <a:p>
            <a:pPr algn="l" marL="0" indent="0" lvl="1">
              <a:lnSpc>
                <a:spcPts val="3056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067162"/>
            <a:ext cx="1303287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CLINICAL NOTE ANALYZER — BUILT WITH PYTHON + CLAUDE API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76830"/>
            <a:ext cx="15391920" cy="178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7"/>
              </a:lnSpc>
              <a:spcBef>
                <a:spcPct val="0"/>
              </a:spcBef>
            </a:pPr>
            <a:r>
              <a:rPr lang="en-US" sz="6827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PR</a:t>
            </a:r>
            <a:r>
              <a:rPr lang="en-US" sz="6827" strike="noStrike" u="none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OOF OF CONCEPT DEMO</a:t>
            </a:r>
          </a:p>
          <a:p>
            <a:pPr algn="l" marL="0" indent="0" lvl="1">
              <a:lnSpc>
                <a:spcPts val="6827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902841" y="6459911"/>
            <a:ext cx="29408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4985" y="6460653"/>
            <a:ext cx="29408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-&gt;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4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842717"/>
            <a:ext cx="1323626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508004"/>
            <a:ext cx="1323626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322" y="2755325"/>
            <a:ext cx="832378" cy="832378"/>
          </a:xfrm>
          <a:custGeom>
            <a:avLst/>
            <a:gdLst/>
            <a:ahLst/>
            <a:cxnLst/>
            <a:rect r="r" b="b" t="t" l="l"/>
            <a:pathLst>
              <a:path h="832378" w="832378">
                <a:moveTo>
                  <a:pt x="0" y="0"/>
                </a:moveTo>
                <a:lnTo>
                  <a:pt x="832378" y="0"/>
                </a:lnTo>
                <a:lnTo>
                  <a:pt x="832378" y="832378"/>
                </a:lnTo>
                <a:lnTo>
                  <a:pt x="0" y="83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48619" y="3024569"/>
            <a:ext cx="21646534" cy="56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spc="-9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 NLP has matured from brittle rule sets to powerful multimodal LLMs capable of reading, structuring, and summarizing medical text at scale.</a:t>
            </a:r>
          </a:p>
          <a:p>
            <a:pPr algn="l" marL="0" indent="0" lvl="1">
              <a:lnSpc>
                <a:spcPts val="22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41367"/>
            <a:ext cx="13236260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00"/>
              </a:lnSpc>
              <a:spcBef>
                <a:spcPct val="0"/>
              </a:spcBef>
            </a:pPr>
            <a:r>
              <a:rPr lang="en-US" sz="7200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KEY TAKEAWAYS</a:t>
            </a:r>
          </a:p>
          <a:p>
            <a:pPr algn="l">
              <a:lnSpc>
                <a:spcPts val="72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48619" y="4121103"/>
            <a:ext cx="21646534" cy="56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spc="-9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healthcare NLP market is growing at 19.8% CAGR,  the window for early-mover advantage is now.</a:t>
            </a:r>
          </a:p>
          <a:p>
            <a:pPr algn="l" marL="0" indent="0" lvl="1">
              <a:lnSpc>
                <a:spcPts val="229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97176" y="5347671"/>
            <a:ext cx="21646534" cy="56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spc="-9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Cotiviti's strongest opportunity is an LLM-powered Clinical Document Intelligence Layer that feeds payment integrity and risk adjustment workflows.</a:t>
            </a:r>
          </a:p>
          <a:p>
            <a:pPr algn="l" marL="0" indent="0" lvl="1">
              <a:lnSpc>
                <a:spcPts val="229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97176" y="6401922"/>
            <a:ext cx="21646534" cy="56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spc="-9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Risks are real but manageable: RAG architecture, HIPAA-compliant deployment, and human-in-the-loop review form the mitigation stack.</a:t>
            </a:r>
          </a:p>
          <a:p>
            <a:pPr algn="l" marL="0" indent="0" lvl="1">
              <a:lnSpc>
                <a:spcPts val="2295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6322" y="3851859"/>
            <a:ext cx="832378" cy="832378"/>
          </a:xfrm>
          <a:custGeom>
            <a:avLst/>
            <a:gdLst/>
            <a:ahLst/>
            <a:cxnLst/>
            <a:rect r="r" b="b" t="t" l="l"/>
            <a:pathLst>
              <a:path h="832378" w="832378">
                <a:moveTo>
                  <a:pt x="0" y="0"/>
                </a:moveTo>
                <a:lnTo>
                  <a:pt x="832378" y="0"/>
                </a:lnTo>
                <a:lnTo>
                  <a:pt x="832378" y="832378"/>
                </a:lnTo>
                <a:lnTo>
                  <a:pt x="0" y="83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6322" y="5078427"/>
            <a:ext cx="832378" cy="832378"/>
          </a:xfrm>
          <a:custGeom>
            <a:avLst/>
            <a:gdLst/>
            <a:ahLst/>
            <a:cxnLst/>
            <a:rect r="r" b="b" t="t" l="l"/>
            <a:pathLst>
              <a:path h="832378" w="832378">
                <a:moveTo>
                  <a:pt x="0" y="0"/>
                </a:moveTo>
                <a:lnTo>
                  <a:pt x="832378" y="0"/>
                </a:lnTo>
                <a:lnTo>
                  <a:pt x="832378" y="832378"/>
                </a:lnTo>
                <a:lnTo>
                  <a:pt x="0" y="83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6322" y="6174961"/>
            <a:ext cx="832378" cy="832378"/>
          </a:xfrm>
          <a:custGeom>
            <a:avLst/>
            <a:gdLst/>
            <a:ahLst/>
            <a:cxnLst/>
            <a:rect r="r" b="b" t="t" l="l"/>
            <a:pathLst>
              <a:path h="832378" w="832378">
                <a:moveTo>
                  <a:pt x="0" y="0"/>
                </a:moveTo>
                <a:lnTo>
                  <a:pt x="832378" y="0"/>
                </a:lnTo>
                <a:lnTo>
                  <a:pt x="832378" y="832378"/>
                </a:lnTo>
                <a:lnTo>
                  <a:pt x="0" y="832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1148" y="3021465"/>
            <a:ext cx="14272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6173" y="4048973"/>
            <a:ext cx="2126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0492" y="5284312"/>
            <a:ext cx="28403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810" y="6382872"/>
            <a:ext cx="284038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18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25853" y="3338192"/>
            <a:ext cx="13236260" cy="398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9"/>
              </a:lnSpc>
            </a:pPr>
            <a:r>
              <a:rPr lang="en-US" sz="15999" spc="-31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THANK</a:t>
            </a:r>
          </a:p>
          <a:p>
            <a:pPr algn="l" marL="0" indent="0" lvl="1">
              <a:lnSpc>
                <a:spcPts val="15199"/>
              </a:lnSpc>
            </a:pPr>
            <a:r>
              <a:rPr lang="en-US" sz="15999" spc="-319">
                <a:solidFill>
                  <a:srgbClr val="FFFFFF"/>
                </a:solidFill>
                <a:latin typeface="Monument Bold"/>
                <a:ea typeface="Monument Bold"/>
                <a:cs typeface="Monument Bold"/>
                <a:sym typeface="Monument Bold"/>
              </a:rPr>
              <a:t>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91226" y="1983862"/>
            <a:ext cx="397092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25887" y="8372315"/>
            <a:ext cx="1091034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NISHA RAVISHANKAR · NRGNISHA02@GMAIL.COM · (602) 918-3008</a:t>
            </a:r>
          </a:p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AutoShape 6" id="6"/>
          <p:cNvSpPr/>
          <p:nvPr/>
        </p:nvSpPr>
        <p:spPr>
          <a:xfrm>
            <a:off x="2525921" y="2581676"/>
            <a:ext cx="1323619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525921" y="1652748"/>
            <a:ext cx="13236192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525853" y="8043702"/>
            <a:ext cx="1323626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true" flipV="true" rot="0">
            <a:off x="14984952" y="6487891"/>
            <a:ext cx="479409" cy="479409"/>
          </a:xfrm>
          <a:custGeom>
            <a:avLst/>
            <a:gdLst/>
            <a:ahLst/>
            <a:cxnLst/>
            <a:rect r="r" b="b" t="t" l="l"/>
            <a:pathLst>
              <a:path h="479409" w="479409">
                <a:moveTo>
                  <a:pt x="479409" y="479409"/>
                </a:moveTo>
                <a:lnTo>
                  <a:pt x="0" y="479409"/>
                </a:lnTo>
                <a:lnTo>
                  <a:pt x="0" y="0"/>
                </a:lnTo>
                <a:lnTo>
                  <a:pt x="479409" y="0"/>
                </a:lnTo>
                <a:lnTo>
                  <a:pt x="479409" y="47940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DAHN0vIahME</dc:identifier>
  <dcterms:modified xsi:type="dcterms:W3CDTF">2011-08-01T06:04:30Z</dcterms:modified>
  <cp:revision>1</cp:revision>
  <dc:title>Orange and Black Minimalist Creative Brief Presentation</dc:title>
</cp:coreProperties>
</file>